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Gilda Display" charset="1" panose="02000000000000000000"/>
      <p:regular r:id="rId21"/>
    </p:embeddedFont>
    <p:embeddedFont>
      <p:font typeface="HK Grotesk Light" charset="1" panose="00000400000000000000"/>
      <p:regular r:id="rId22"/>
    </p:embeddedFont>
    <p:embeddedFont>
      <p:font typeface="HK Grotesk Bold" charset="1" panose="000008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327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11225" y="6787402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8629650" cy="6120652"/>
            <a:chOff x="0" y="0"/>
            <a:chExt cx="1336959" cy="9482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36959" cy="948249"/>
            </a:xfrm>
            <a:custGeom>
              <a:avLst/>
              <a:gdLst/>
              <a:ahLst/>
              <a:cxnLst/>
              <a:rect r="r" b="b" t="t" l="l"/>
              <a:pathLst>
                <a:path h="948249" w="1336959">
                  <a:moveTo>
                    <a:pt x="35885" y="0"/>
                  </a:moveTo>
                  <a:lnTo>
                    <a:pt x="1301073" y="0"/>
                  </a:lnTo>
                  <a:cubicBezTo>
                    <a:pt x="1310591" y="0"/>
                    <a:pt x="1319718" y="3781"/>
                    <a:pt x="1326448" y="10511"/>
                  </a:cubicBezTo>
                  <a:cubicBezTo>
                    <a:pt x="1333178" y="17240"/>
                    <a:pt x="1336959" y="26368"/>
                    <a:pt x="1336959" y="35885"/>
                  </a:cubicBezTo>
                  <a:lnTo>
                    <a:pt x="1336959" y="912364"/>
                  </a:lnTo>
                  <a:cubicBezTo>
                    <a:pt x="1336959" y="921881"/>
                    <a:pt x="1333178" y="931009"/>
                    <a:pt x="1326448" y="937739"/>
                  </a:cubicBezTo>
                  <a:cubicBezTo>
                    <a:pt x="1319718" y="944468"/>
                    <a:pt x="1310591" y="948249"/>
                    <a:pt x="1301073" y="948249"/>
                  </a:cubicBezTo>
                  <a:lnTo>
                    <a:pt x="35885" y="948249"/>
                  </a:lnTo>
                  <a:cubicBezTo>
                    <a:pt x="26368" y="948249"/>
                    <a:pt x="17240" y="944468"/>
                    <a:pt x="10511" y="937739"/>
                  </a:cubicBezTo>
                  <a:cubicBezTo>
                    <a:pt x="3781" y="931009"/>
                    <a:pt x="0" y="921881"/>
                    <a:pt x="0" y="912364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3433" r="0" b="-23433"/>
              </a:stretch>
            </a:blipFill>
            <a:ln w="28575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0606265" y="-1133460"/>
            <a:ext cx="6886575" cy="10720690"/>
            <a:chOff x="0" y="0"/>
            <a:chExt cx="9182100" cy="1429425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2457891"/>
              <a:ext cx="9182100" cy="118363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373"/>
                </a:lnSpc>
              </a:pPr>
              <a:r>
                <a:rPr lang="en-US" sz="6373">
                  <a:solidFill>
                    <a:srgbClr val="FFFFFF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A Statistical and Temporal Analysis of Gacha Mechanics in Wuthering Waves Using Featured Resonator Convene Records: An Exploratory Single-Account Analysis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47625"/>
              <a:ext cx="9182100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February 2026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66750" y="7052300"/>
            <a:ext cx="7935690" cy="43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0"/>
              </a:lnSpc>
              <a:spcBef>
                <a:spcPct val="0"/>
              </a:spcBef>
            </a:pPr>
            <a:r>
              <a:rPr lang="en-US" sz="310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Presented By: Carpio, Lee-an Mar Anicken P.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268288">
            <a:off x="14795639" y="587349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2624413" y="2739981"/>
            <a:ext cx="13039174" cy="3914808"/>
            <a:chOff x="0" y="0"/>
            <a:chExt cx="17385565" cy="5219744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71450"/>
              <a:ext cx="17385565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432766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Study Overview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251244"/>
              <a:ext cx="17385565" cy="196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432766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This exploratory study aims to analyze gacha mechanics by examining a single account's detailed pull records, offering empirical insights into player behavior and game dynamics.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086063"/>
              <a:ext cx="17385565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432766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Research Objectives and Significance Explained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05025" y="1968834"/>
            <a:ext cx="7888491" cy="5981733"/>
            <a:chOff x="0" y="0"/>
            <a:chExt cx="10517988" cy="797564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71450"/>
              <a:ext cx="10517988" cy="30983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432766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Dataset Overview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346744"/>
              <a:ext cx="10517988" cy="2628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432766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The study analyzes a total of </a:t>
              </a:r>
              <a:r>
                <a:rPr lang="en-US" b="true" sz="3000">
                  <a:solidFill>
                    <a:srgbClr val="432766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582 pulls</a:t>
              </a:r>
              <a:r>
                <a:rPr lang="en-US" sz="3000">
                  <a:solidFill>
                    <a:srgbClr val="432766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over </a:t>
              </a:r>
              <a:r>
                <a:rPr lang="en-US" b="true" sz="3000">
                  <a:solidFill>
                    <a:srgbClr val="432766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97 days</a:t>
              </a:r>
              <a:r>
                <a:rPr lang="en-US" sz="3000">
                  <a:solidFill>
                    <a:srgbClr val="432766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, focusing exclusively on the </a:t>
              </a:r>
              <a:r>
                <a:rPr lang="en-US" b="true" sz="3000">
                  <a:solidFill>
                    <a:srgbClr val="432766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Featured Resonator banner</a:t>
              </a:r>
              <a:r>
                <a:rPr lang="en-US" sz="3000">
                  <a:solidFill>
                    <a:srgbClr val="432766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and capturing distinct pull behaviors across </a:t>
              </a:r>
              <a:r>
                <a:rPr lang="en-US" b="true" sz="3000">
                  <a:solidFill>
                    <a:srgbClr val="432766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24 active days</a:t>
              </a:r>
              <a:r>
                <a:rPr lang="en-US" sz="3000">
                  <a:solidFill>
                    <a:srgbClr val="432766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571963"/>
              <a:ext cx="10517988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432766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Insights into the research dataset characteristics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268288">
            <a:off x="14795639" y="587349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05025" y="3002297"/>
            <a:ext cx="12639675" cy="3914808"/>
            <a:chOff x="0" y="0"/>
            <a:chExt cx="16852900" cy="521974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71450"/>
              <a:ext cx="168529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432766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Research Methods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251244"/>
              <a:ext cx="16852900" cy="196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432766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This study employs a comprehensive </a:t>
              </a:r>
              <a:r>
                <a:rPr lang="en-US" b="true" sz="3000">
                  <a:solidFill>
                    <a:srgbClr val="432766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analytic approach</a:t>
              </a:r>
              <a:r>
                <a:rPr lang="en-US" sz="3000">
                  <a:solidFill>
                    <a:srgbClr val="432766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involving data cleaning, feature extraction, exploratory data analysis, and statistical inference to thoroughly assess gacha mechanics.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086063"/>
              <a:ext cx="168529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432766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Analyzing Gacha Mechanics Through Data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268288">
            <a:off x="14795639" y="587349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268288">
            <a:off x="14795639" y="587349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3493371" y="4248150"/>
            <a:ext cx="11301259" cy="4718276"/>
          </a:xfrm>
          <a:custGeom>
            <a:avLst/>
            <a:gdLst/>
            <a:ahLst/>
            <a:cxnLst/>
            <a:rect r="r" b="b" t="t" l="l"/>
            <a:pathLst>
              <a:path h="4718276" w="11301259">
                <a:moveTo>
                  <a:pt x="0" y="0"/>
                </a:moveTo>
                <a:lnTo>
                  <a:pt x="11301258" y="0"/>
                </a:lnTo>
                <a:lnTo>
                  <a:pt x="11301258" y="4718276"/>
                </a:lnTo>
                <a:lnTo>
                  <a:pt x="0" y="47182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818281" y="382115"/>
            <a:ext cx="14651437" cy="3419508"/>
            <a:chOff x="0" y="0"/>
            <a:chExt cx="19535250" cy="455934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71450"/>
              <a:ext cx="1953525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432766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Core Metrics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251244"/>
              <a:ext cx="19535250" cy="1308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432766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This dataset consists of </a:t>
              </a:r>
              <a:r>
                <a:rPr lang="en-US" b="true" sz="3000">
                  <a:solidFill>
                    <a:srgbClr val="432766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582 total pulls</a:t>
              </a:r>
              <a:r>
                <a:rPr lang="en-US" sz="3000">
                  <a:solidFill>
                    <a:srgbClr val="432766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, with </a:t>
              </a:r>
              <a:r>
                <a:rPr lang="en-US" b="true" sz="3000">
                  <a:solidFill>
                    <a:srgbClr val="432766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93,120 Astrites</a:t>
              </a:r>
              <a:r>
                <a:rPr lang="en-US" sz="3000">
                  <a:solidFill>
                    <a:srgbClr val="432766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spent and </a:t>
              </a:r>
              <a:r>
                <a:rPr lang="en-US" b="true" sz="3000">
                  <a:solidFill>
                    <a:srgbClr val="432766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9 five-star pulls</a:t>
              </a:r>
              <a:r>
                <a:rPr lang="en-US" sz="3000">
                  <a:solidFill>
                    <a:srgbClr val="432766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obtained, providing ample data for preliminary analysis of gacha mechanics.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086063"/>
              <a:ext cx="1953525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432766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Key Statistics of the Dataset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268288">
            <a:off x="14795639" y="587349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241465" y="4248150"/>
            <a:ext cx="12046652" cy="4191575"/>
          </a:xfrm>
          <a:custGeom>
            <a:avLst/>
            <a:gdLst/>
            <a:ahLst/>
            <a:cxnLst/>
            <a:rect r="r" b="b" t="t" l="l"/>
            <a:pathLst>
              <a:path h="4191575" w="12046652">
                <a:moveTo>
                  <a:pt x="0" y="0"/>
                </a:moveTo>
                <a:lnTo>
                  <a:pt x="12046651" y="0"/>
                </a:lnTo>
                <a:lnTo>
                  <a:pt x="12046651" y="4191575"/>
                </a:lnTo>
                <a:lnTo>
                  <a:pt x="0" y="41915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25540" y="567597"/>
            <a:ext cx="14836919" cy="3419508"/>
            <a:chOff x="0" y="0"/>
            <a:chExt cx="19782559" cy="455934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71450"/>
              <a:ext cx="19782559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432766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5-Star Pull Statistics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251244"/>
              <a:ext cx="19782559" cy="1308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432766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The dataset reveals a mean pity of 64.56 pulls for 5-star drops, with a range of 19 to 75 pulls, indicating consistent mechanics without hard-pity breaches.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086063"/>
              <a:ext cx="19782559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432766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Analysis of 5-Star Pull Patterns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268288">
            <a:off x="14795639" y="587349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3493371" y="4483646"/>
            <a:ext cx="11301259" cy="3574023"/>
          </a:xfrm>
          <a:custGeom>
            <a:avLst/>
            <a:gdLst/>
            <a:ahLst/>
            <a:cxnLst/>
            <a:rect r="r" b="b" t="t" l="l"/>
            <a:pathLst>
              <a:path h="3574023" w="11301259">
                <a:moveTo>
                  <a:pt x="0" y="0"/>
                </a:moveTo>
                <a:lnTo>
                  <a:pt x="11301258" y="0"/>
                </a:lnTo>
                <a:lnTo>
                  <a:pt x="11301258" y="3574023"/>
                </a:lnTo>
                <a:lnTo>
                  <a:pt x="0" y="35740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82737" y="696007"/>
            <a:ext cx="14922526" cy="3419508"/>
            <a:chOff x="0" y="0"/>
            <a:chExt cx="19896701" cy="455934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71450"/>
              <a:ext cx="19896701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432766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4-Star Pulls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251244"/>
              <a:ext cx="19896701" cy="1308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432766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 total of 69 four-star pulls were recorded, yielding a </a:t>
              </a:r>
              <a:r>
                <a:rPr lang="en-US" b="true" sz="3000">
                  <a:solidFill>
                    <a:srgbClr val="432766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4-star pull ratio</a:t>
              </a:r>
              <a:r>
                <a:rPr lang="en-US" sz="3000">
                  <a:solidFill>
                    <a:srgbClr val="432766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of 11.86%. Most four-star outcomes occurred within the expected range of 7.42 pulls.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086063"/>
              <a:ext cx="19896701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432766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Overview of 4-Star Pull Statistics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268288">
            <a:off x="14795639" y="587349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480355" y="4625846"/>
            <a:ext cx="12605317" cy="4632454"/>
          </a:xfrm>
          <a:custGeom>
            <a:avLst/>
            <a:gdLst/>
            <a:ahLst/>
            <a:cxnLst/>
            <a:rect r="r" b="b" t="t" l="l"/>
            <a:pathLst>
              <a:path h="4632454" w="12605317">
                <a:moveTo>
                  <a:pt x="0" y="0"/>
                </a:moveTo>
                <a:lnTo>
                  <a:pt x="12605317" y="0"/>
                </a:lnTo>
                <a:lnTo>
                  <a:pt x="12605317" y="4632454"/>
                </a:lnTo>
                <a:lnTo>
                  <a:pt x="0" y="46324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97005" y="1028700"/>
            <a:ext cx="14893990" cy="3419508"/>
            <a:chOff x="0" y="0"/>
            <a:chExt cx="19858654" cy="455934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71450"/>
              <a:ext cx="19858654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432766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Pull Patterns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251244"/>
              <a:ext cx="19858654" cy="1308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432766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This section explores the </a:t>
              </a:r>
              <a:r>
                <a:rPr lang="en-US" b="true" sz="3000">
                  <a:solidFill>
                    <a:srgbClr val="432766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timing of pulls</a:t>
              </a:r>
              <a:r>
                <a:rPr lang="en-US" sz="3000">
                  <a:solidFill>
                    <a:srgbClr val="432766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and associated streak behaviors, revealing how player habits and pity mechanics influence overall gacha outcomes and success rates.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086063"/>
              <a:ext cx="19858654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432766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Analyzing Temporal Trends and Streaks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05025" y="3002297"/>
            <a:ext cx="12639675" cy="3914808"/>
            <a:chOff x="0" y="0"/>
            <a:chExt cx="16852900" cy="521974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71450"/>
              <a:ext cx="168529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432766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Hypothesis Testing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251244"/>
              <a:ext cx="16852900" cy="196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432766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The analysis revealed a borderline significance with a p-value of 0.0566, indicating potential effects while cautioning against overinterpretation due to a limited sample size.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086063"/>
              <a:ext cx="168529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432766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Statistical test results and interpretations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268288">
            <a:off x="14795639" y="587349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268288">
            <a:off x="14795639" y="587349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123660" y="4706884"/>
            <a:ext cx="13097600" cy="4551416"/>
          </a:xfrm>
          <a:custGeom>
            <a:avLst/>
            <a:gdLst/>
            <a:ahLst/>
            <a:cxnLst/>
            <a:rect r="r" b="b" t="t" l="l"/>
            <a:pathLst>
              <a:path h="4551416" w="13097600">
                <a:moveTo>
                  <a:pt x="0" y="0"/>
                </a:moveTo>
                <a:lnTo>
                  <a:pt x="13097600" y="0"/>
                </a:lnTo>
                <a:lnTo>
                  <a:pt x="13097600" y="4551416"/>
                </a:lnTo>
                <a:lnTo>
                  <a:pt x="0" y="45514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80580" y="633402"/>
            <a:ext cx="15678720" cy="3858610"/>
            <a:chOff x="0" y="0"/>
            <a:chExt cx="20904961" cy="514481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71450"/>
              <a:ext cx="20904961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432766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Monte Carlo Simulations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251244"/>
              <a:ext cx="20904961" cy="18935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02"/>
                </a:lnSpc>
              </a:pPr>
              <a:r>
                <a:rPr lang="en-US" sz="2925">
                  <a:solidFill>
                    <a:srgbClr val="432766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Monte Carlo simulations were employed to model pull distributions, confirming stability in results. Robustness checks demonstrate consistent outcomes across various assumptions, validating the analytical approach taken.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086063"/>
              <a:ext cx="20904961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432766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Validating findings through statistical modeling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05025" y="3002297"/>
            <a:ext cx="12639675" cy="3914808"/>
            <a:chOff x="0" y="0"/>
            <a:chExt cx="16852900" cy="521974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71450"/>
              <a:ext cx="168529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432766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Findings Overview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251244"/>
              <a:ext cx="16852900" cy="196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432766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The late-cycle clustering observed indicates that pity mechanics significantly influence player pull outcomes, suggesting strategic implications for both developers and players in understanding gacha systems.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086063"/>
              <a:ext cx="168529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432766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Insights into Gacha Mechanics Behavior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268288">
            <a:off x="14795639" y="587349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05025" y="3002297"/>
            <a:ext cx="12639675" cy="3914808"/>
            <a:chOff x="0" y="0"/>
            <a:chExt cx="16852900" cy="521974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71450"/>
              <a:ext cx="168529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432766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Limitations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251244"/>
              <a:ext cx="16852900" cy="196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432766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This research is limited by its single-account dataset, low frequency of rare events, and reliance on model assumptions, potentially affecting generalizability and inference strength.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086063"/>
              <a:ext cx="168529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432766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Exploring study constraints and caveats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268288">
            <a:off x="14795639" y="587349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05025" y="3002297"/>
            <a:ext cx="12639675" cy="3914808"/>
            <a:chOff x="0" y="0"/>
            <a:chExt cx="16852900" cy="521974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71450"/>
              <a:ext cx="168529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432766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Future Research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251244"/>
              <a:ext cx="16852900" cy="196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432766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Gathering multi-account datasets and incorporating qualitative player behavior insights will enhance the robustness and applicability of findings across diverse gaming environments.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086063"/>
              <a:ext cx="168529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432766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Expanding the Study of Gacha Mechanics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268288">
            <a:off x="14795639" y="587349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19418" y="2290746"/>
            <a:ext cx="12639675" cy="3914808"/>
            <a:chOff x="0" y="0"/>
            <a:chExt cx="16852900" cy="521974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71450"/>
              <a:ext cx="168529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432766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Conclusion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251244"/>
              <a:ext cx="16852900" cy="196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432766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This study highlights the structured </a:t>
              </a:r>
              <a:r>
                <a:rPr lang="en-US" b="true" sz="3000">
                  <a:solidFill>
                    <a:srgbClr val="432766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pity effects</a:t>
              </a:r>
              <a:r>
                <a:rPr lang="en-US" sz="3000">
                  <a:solidFill>
                    <a:srgbClr val="432766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in gacha mechanics, enhancing understanding for both academic inquiry and player experiences while emphasizing statistical methods' importance in gaming analytics.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086063"/>
              <a:ext cx="168529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432766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Key insights and implications of research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268288">
            <a:off x="14795639" y="587349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327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474064">
            <a:off x="14221481" y="6404997"/>
            <a:ext cx="9086976" cy="8558279"/>
          </a:xfrm>
          <a:custGeom>
            <a:avLst/>
            <a:gdLst/>
            <a:ahLst/>
            <a:cxnLst/>
            <a:rect r="r" b="b" t="t" l="l"/>
            <a:pathLst>
              <a:path h="8558279" w="9086976">
                <a:moveTo>
                  <a:pt x="0" y="0"/>
                </a:moveTo>
                <a:lnTo>
                  <a:pt x="9086976" y="0"/>
                </a:lnTo>
                <a:lnTo>
                  <a:pt x="9086976" y="8558279"/>
                </a:lnTo>
                <a:lnTo>
                  <a:pt x="0" y="85582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4248150"/>
            <a:ext cx="16182975" cy="6038850"/>
            <a:chOff x="0" y="0"/>
            <a:chExt cx="217815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78150" cy="812800"/>
            </a:xfrm>
            <a:custGeom>
              <a:avLst/>
              <a:gdLst/>
              <a:ahLst/>
              <a:cxnLst/>
              <a:rect r="r" b="b" t="t" l="l"/>
              <a:pathLst>
                <a:path h="812800" w="2178150">
                  <a:moveTo>
                    <a:pt x="19136" y="0"/>
                  </a:moveTo>
                  <a:lnTo>
                    <a:pt x="2159014" y="0"/>
                  </a:lnTo>
                  <a:cubicBezTo>
                    <a:pt x="2169583" y="0"/>
                    <a:pt x="2178150" y="8567"/>
                    <a:pt x="2178150" y="19136"/>
                  </a:cubicBezTo>
                  <a:lnTo>
                    <a:pt x="2178150" y="793664"/>
                  </a:lnTo>
                  <a:cubicBezTo>
                    <a:pt x="2178150" y="804233"/>
                    <a:pt x="2169583" y="812800"/>
                    <a:pt x="2159014" y="812800"/>
                  </a:cubicBezTo>
                  <a:lnTo>
                    <a:pt x="19136" y="812800"/>
                  </a:lnTo>
                  <a:cubicBezTo>
                    <a:pt x="8567" y="812800"/>
                    <a:pt x="0" y="804233"/>
                    <a:pt x="0" y="793664"/>
                  </a:cubicBezTo>
                  <a:lnTo>
                    <a:pt x="0" y="19136"/>
                  </a:lnTo>
                  <a:cubicBezTo>
                    <a:pt x="0" y="8567"/>
                    <a:pt x="8567" y="0"/>
                    <a:pt x="19136" y="0"/>
                  </a:cubicBezTo>
                  <a:close/>
                </a:path>
              </a:pathLst>
            </a:custGeom>
            <a:blipFill>
              <a:blip r:embed="rId4"/>
              <a:stretch>
                <a:fillRect l="-257" t="0" r="-257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666750" y="838200"/>
            <a:ext cx="15516225" cy="116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A Statistical and Temporal Analysis</dc:description>
  <dc:identifier>DAHB07EDCyY</dc:identifier>
  <dcterms:modified xsi:type="dcterms:W3CDTF">2011-08-01T06:04:30Z</dcterms:modified>
  <cp:revision>1</cp:revision>
  <dc:title>Final PPT presentation</dc:title>
</cp:coreProperties>
</file>